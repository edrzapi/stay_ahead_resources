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143000"/>
            <a:ext cx="1051560" cy="105156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89" y="1426921"/>
            <a:ext cx="483718" cy="4837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PROGRAMMING 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Services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658368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APIs, </a:t>
            </a:r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 methods</a:t>
            </a:r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talking between programs with </a:t>
            </a:r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&amp; requests</a:t>
            </a:r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Edward Reynolds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·    StayAhead Training, 2026</a:t>
            </a:r>
            <a:endParaRPr lang="en-US" sz="1400" dirty="0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7 · WEB SERVICES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458968" cy="1536192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57400"/>
            <a:ext cx="64008" cy="1536192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377440"/>
            <a:ext cx="859536" cy="85953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187" y="2609515"/>
            <a:ext cx="395387" cy="3953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38528" y="23317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Services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938528" y="2862072"/>
            <a:ext cx="4041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Flask · routes · path vars · methods · auth · deploy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72784" y="2057400"/>
            <a:ext cx="5458968" cy="1536192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72784" y="2057400"/>
            <a:ext cx="64008" cy="1536192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28816" y="2377440"/>
            <a:ext cx="859536" cy="85953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891" y="2609515"/>
            <a:ext cx="395387" cy="3953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71232" y="23317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Clients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571232" y="2862072"/>
            <a:ext cx="4041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requests · headers · params · body · timeouts · errors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40080" y="3840480"/>
            <a:ext cx="5367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Installing Flask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704088" y="4178808"/>
            <a:ext cx="5276088" cy="9144"/>
          </a:xfrm>
          <a:prstGeom prst="rect">
            <a:avLst/>
          </a:prstGeom>
          <a:solidFill>
            <a:srgbClr val="1E2D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4224528"/>
            <a:ext cx="5367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A simple REST service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704088" y="4562856"/>
            <a:ext cx="5276088" cy="9144"/>
          </a:xfrm>
          <a:prstGeom prst="rect">
            <a:avLst/>
          </a:prstGeom>
          <a:solidFill>
            <a:srgbClr val="1E2D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0080" y="4608576"/>
            <a:ext cx="5367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Path variables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704088" y="4946904"/>
            <a:ext cx="5276088" cy="9144"/>
          </a:xfrm>
          <a:prstGeom prst="rect">
            <a:avLst/>
          </a:prstGeom>
          <a:solidFill>
            <a:srgbClr val="1E2D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0080" y="4992624"/>
            <a:ext cx="5367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HTTP methods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704088" y="5330952"/>
            <a:ext cx="5276088" cy="9144"/>
          </a:xfrm>
          <a:prstGeom prst="rect">
            <a:avLst/>
          </a:prstGeom>
          <a:solidFill>
            <a:srgbClr val="1E2D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0080" y="5376672"/>
            <a:ext cx="5367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The request / The response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704088" y="5715000"/>
            <a:ext cx="5276088" cy="9144"/>
          </a:xfrm>
          <a:prstGeom prst="rect">
            <a:avLst/>
          </a:prstGeom>
          <a:solidFill>
            <a:srgbClr val="1E2D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0080" y="5760720"/>
            <a:ext cx="5367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Auth and deployment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704088" y="6099048"/>
            <a:ext cx="5276088" cy="9144"/>
          </a:xfrm>
          <a:prstGeom prst="rect">
            <a:avLst/>
          </a:prstGeom>
          <a:solidFill>
            <a:srgbClr val="1E2D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272784" y="3840480"/>
            <a:ext cx="5367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Installing requests</a:t>
            </a:r>
            <a:endParaRPr lang="en-US" sz="1350" dirty="0"/>
          </a:p>
        </p:txBody>
      </p:sp>
      <p:sp>
        <p:nvSpPr>
          <p:cNvPr id="29" name="Shape 25"/>
          <p:cNvSpPr/>
          <p:nvPr/>
        </p:nvSpPr>
        <p:spPr>
          <a:xfrm>
            <a:off x="6336792" y="4178808"/>
            <a:ext cx="5276088" cy="9144"/>
          </a:xfrm>
          <a:prstGeom prst="rect">
            <a:avLst/>
          </a:prstGeom>
          <a:solidFill>
            <a:srgbClr val="1E2D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272784" y="4224528"/>
            <a:ext cx="5367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Making requests</a:t>
            </a:r>
            <a:endParaRPr lang="en-US" sz="1350" dirty="0"/>
          </a:p>
        </p:txBody>
      </p:sp>
      <p:sp>
        <p:nvSpPr>
          <p:cNvPr id="31" name="Shape 27"/>
          <p:cNvSpPr/>
          <p:nvPr/>
        </p:nvSpPr>
        <p:spPr>
          <a:xfrm>
            <a:off x="6336792" y="4562856"/>
            <a:ext cx="5276088" cy="9144"/>
          </a:xfrm>
          <a:prstGeom prst="rect">
            <a:avLst/>
          </a:prstGeom>
          <a:solidFill>
            <a:srgbClr val="1E2D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272784" y="4608576"/>
            <a:ext cx="5367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Headers and query params</a:t>
            </a:r>
            <a:endParaRPr lang="en-US" sz="1350" dirty="0"/>
          </a:p>
        </p:txBody>
      </p:sp>
      <p:sp>
        <p:nvSpPr>
          <p:cNvPr id="33" name="Shape 29"/>
          <p:cNvSpPr/>
          <p:nvPr/>
        </p:nvSpPr>
        <p:spPr>
          <a:xfrm>
            <a:off x="6336792" y="4946904"/>
            <a:ext cx="5276088" cy="9144"/>
          </a:xfrm>
          <a:prstGeom prst="rect">
            <a:avLst/>
          </a:prstGeom>
          <a:solidFill>
            <a:srgbClr val="1E2D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272784" y="4992624"/>
            <a:ext cx="5367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The request body</a:t>
            </a:r>
            <a:endParaRPr lang="en-US" sz="1350" dirty="0"/>
          </a:p>
        </p:txBody>
      </p:sp>
      <p:sp>
        <p:nvSpPr>
          <p:cNvPr id="35" name="Shape 31"/>
          <p:cNvSpPr/>
          <p:nvPr/>
        </p:nvSpPr>
        <p:spPr>
          <a:xfrm>
            <a:off x="6336792" y="5330952"/>
            <a:ext cx="5276088" cy="9144"/>
          </a:xfrm>
          <a:prstGeom prst="rect">
            <a:avLst/>
          </a:prstGeom>
          <a:solidFill>
            <a:srgbClr val="1E2D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272784" y="5376672"/>
            <a:ext cx="5367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Timeouts</a:t>
            </a:r>
            <a:endParaRPr lang="en-US" sz="1350" dirty="0"/>
          </a:p>
        </p:txBody>
      </p:sp>
      <p:sp>
        <p:nvSpPr>
          <p:cNvPr id="37" name="Shape 33"/>
          <p:cNvSpPr/>
          <p:nvPr/>
        </p:nvSpPr>
        <p:spPr>
          <a:xfrm>
            <a:off x="6336792" y="5715000"/>
            <a:ext cx="5276088" cy="9144"/>
          </a:xfrm>
          <a:prstGeom prst="rect">
            <a:avLst/>
          </a:prstGeom>
          <a:solidFill>
            <a:srgbClr val="1E2D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272784" y="5760720"/>
            <a:ext cx="5367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Errors and exceptions</a:t>
            </a:r>
            <a:endParaRPr lang="en-US" sz="1350" dirty="0"/>
          </a:p>
        </p:txBody>
      </p:sp>
      <p:sp>
        <p:nvSpPr>
          <p:cNvPr id="39" name="Shape 35"/>
          <p:cNvSpPr/>
          <p:nvPr/>
        </p:nvSpPr>
        <p:spPr>
          <a:xfrm>
            <a:off x="6336792" y="6099048"/>
            <a:ext cx="5276088" cy="9144"/>
          </a:xfrm>
          <a:prstGeom prst="rect">
            <a:avLst/>
          </a:prstGeom>
          <a:solidFill>
            <a:srgbClr val="1E2D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Contents  ·  01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 web service?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program whose functions may be invoked </a:t>
            </a:r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remotely over the web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enables communication between disparate programs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Types: </a:t>
            </a:r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RPC, CORBA, SOAP, REST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</a:t>
            </a:r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(Representational State Transfer) now dominates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5486400"/>
            <a:ext cx="6035040" cy="502920"/>
          </a:xfrm>
          <a:prstGeom prst="roundRect">
            <a:avLst>
              <a:gd name="adj" fmla="val 10909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4864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*Technically REST is an architectural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style, not a type of web service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Web Services  ·  02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SERVICES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Installing Flask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could build one with stdlib, e.g.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7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http.server</a:t>
            </a:r>
            <a:endParaRPr lang="en-US" sz="1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Third-party libs are preferred: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7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Django, FastAPI, Flask</a:t>
            </a:r>
            <a:endParaRPr lang="en-US" sz="1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is a </a:t>
            </a:r>
            <a:pPr indent="0" marL="0">
              <a:lnSpc>
                <a:spcPct val="105000"/>
              </a:lnSpc>
              <a:buNone/>
            </a:pPr>
            <a:r>
              <a:rPr lang="en-US" sz="175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7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 program that is extended by your code</a:t>
            </a:r>
            <a:endParaRPr lang="en-US" sz="1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will use </a:t>
            </a:r>
            <a:pPr indent="0" marL="0">
              <a:lnSpc>
                <a:spcPct val="105000"/>
              </a:lnSpc>
              <a:buNone/>
            </a:pPr>
            <a:r>
              <a:rPr lang="en-US" sz="175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7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because it is lightweight and simple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31520" y="5029200"/>
            <a:ext cx="4754880" cy="9692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5029200"/>
            <a:ext cx="475488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51480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51480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16736" y="51480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50292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terminal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87552" y="55229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pip3 install flask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Services  ·  03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SERVICES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simple REST service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949440" cy="37124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69494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019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019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019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78308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276856"/>
            <a:ext cx="64922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flask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 = flask.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Flask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"My Web Service"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@app.</a:t>
            </a:r>
            <a:pPr algn="l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"/widgets"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get_widgets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# TODO fetch widgets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8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widgets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9 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__name__ == </a:t>
            </a:r>
            <a:pPr algn="l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"__main__"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app.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(debug=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18120" y="2286000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22860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/widgets is mapped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 the get_widgets function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18120" y="4937760"/>
            <a:ext cx="3749040" cy="777240"/>
          </a:xfrm>
          <a:prstGeom prst="roundRect">
            <a:avLst>
              <a:gd name="adj" fmla="val 7059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4937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run() starts a server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listening on port 5000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Services  ·  04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SERVICES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variables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7132320" cy="288950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71323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305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1305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21305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0116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505456"/>
            <a:ext cx="6675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...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@app.</a:t>
            </a:r>
            <a:pPr algn="l" indent="0" marL="0">
              <a:buNone/>
            </a:pPr>
            <a:r>
              <a:rPr lang="en-US" sz="14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"/widgets/</a:t>
            </a:r>
            <a:pPr algn="l" indent="0" marL="0">
              <a:buNone/>
            </a:pPr>
            <a:r>
              <a:rPr lang="en-US" sz="14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&lt;int:id&gt;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get_widget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(id: </a:t>
            </a:r>
            <a:pPr algn="l" indent="0" marL="0">
              <a:buNone/>
            </a:pPr>
            <a:r>
              <a:rPr lang="en-US" sz="14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# TODO fetch widget with id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widget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...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01000" y="2468880"/>
            <a:ext cx="3566160" cy="1051560"/>
          </a:xfrm>
          <a:prstGeom prst="roundRect">
            <a:avLst>
              <a:gd name="adj" fmla="val 5217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24688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/widgets/51 is mapped 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get_widget, with the parameter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 set to 51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Services  ·  05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SERVICES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 methods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828800" cy="475488"/>
          </a:xfrm>
          <a:prstGeom prst="rect">
            <a:avLst/>
          </a:prstGeom>
          <a:solidFill>
            <a:srgbClr val="1A5FA8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1783080"/>
            <a:ext cx="9079992" cy="475488"/>
          </a:xfrm>
          <a:prstGeom prst="rect">
            <a:avLst/>
          </a:prstGeom>
          <a:solidFill>
            <a:srgbClr val="1A5FA8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0" y="1783080"/>
            <a:ext cx="9079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1828800" cy="658368"/>
          </a:xfrm>
          <a:prstGeom prst="rect">
            <a:avLst/>
          </a:prstGeom>
          <a:solidFill>
            <a:srgbClr val="164E86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2258568"/>
            <a:ext cx="9079992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585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33472" y="2258568"/>
            <a:ext cx="8750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resource. Safe and idempotent. No body sent.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916936"/>
            <a:ext cx="1828800" cy="658368"/>
          </a:xfrm>
          <a:prstGeom prst="rect">
            <a:avLst/>
          </a:prstGeom>
          <a:solidFill>
            <a:srgbClr val="164E86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2916936"/>
            <a:ext cx="9079992" cy="658368"/>
          </a:xfrm>
          <a:prstGeom prst="rect">
            <a:avLst/>
          </a:prstGeom>
          <a:solidFill>
            <a:srgbClr val="0C1322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1693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33472" y="2916936"/>
            <a:ext cx="8750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new resource. NOT idempotent.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575304"/>
            <a:ext cx="1828800" cy="658368"/>
          </a:xfrm>
          <a:prstGeom prst="rect">
            <a:avLst/>
          </a:prstGeom>
          <a:solidFill>
            <a:srgbClr val="164E86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3575304"/>
            <a:ext cx="9079992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7530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33472" y="3575304"/>
            <a:ext cx="8750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the whole resource at a known URL. Idempotent.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233672"/>
            <a:ext cx="1828800" cy="658368"/>
          </a:xfrm>
          <a:prstGeom prst="rect">
            <a:avLst/>
          </a:prstGeom>
          <a:solidFill>
            <a:srgbClr val="164E86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0" y="4233672"/>
            <a:ext cx="9079992" cy="658368"/>
          </a:xfrm>
          <a:prstGeom prst="rect">
            <a:avLst/>
          </a:prstGeom>
          <a:solidFill>
            <a:srgbClr val="0C1322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2336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33472" y="4233672"/>
            <a:ext cx="8750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 update: change only the fields you send. Idempotent.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892040"/>
            <a:ext cx="1828800" cy="658368"/>
          </a:xfrm>
          <a:prstGeom prst="rect">
            <a:avLst/>
          </a:prstGeom>
          <a:solidFill>
            <a:srgbClr val="164E86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68880" y="4892040"/>
            <a:ext cx="9079992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8920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DELETE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633472" y="4892040"/>
            <a:ext cx="8750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the resource. Idempotent.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742432"/>
            <a:ext cx="10908792" cy="530352"/>
          </a:xfrm>
          <a:prstGeom prst="rect">
            <a:avLst/>
          </a:prstGeom>
          <a:solidFill>
            <a:srgbClr val="0C1420"/>
          </a:solidFill>
          <a:ln w="6350">
            <a:solidFill>
              <a:srgbClr val="1E2D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742432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CRUD mapping: </a:t>
            </a:r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</a:t>
            </a:r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Create,  </a:t>
            </a:r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</a:t>
            </a:r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Read,  </a:t>
            </a:r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PUT/PATCH</a:t>
            </a:r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Update,  </a:t>
            </a:r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DELETE</a:t>
            </a:r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Delete.  Idempotent: GET, PUT, PATCH, DELETE.  Not idempotent: POST.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Services  ·  06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SERVICES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request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8229600" cy="206654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82296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476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476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82880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322576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@app.</a:t>
            </a:r>
            <a:pPr algn="l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"/widgets"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put_widget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widget = flask.request.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get_json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# TODO write the widget to disk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...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flask.request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Flask's context object for the current incoming request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get_json()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parses the JSON body into a Python dict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useful attributes: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request.args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(query params), 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5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request.headers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Services  ·  07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SERVICES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response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8229600" cy="23408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82296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476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476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82880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322576"/>
            <a:ext cx="7772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@app.</a:t>
            </a:r>
            <a:pPr algn="l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"/widgets"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put_widget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widget = flask.request.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get_json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response = flask.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make_response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(widget)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response.status =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201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98280" y="233172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8280" y="23317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 a response with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 status code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98280" y="411480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4114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201 = CREATED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 = OK (default)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Services  ·  08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SERVICES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and authorisation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is stateless: the server keeps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session</a:t>
            </a:r>
            <a:pPr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so each request must carry its own credentials</a:t>
            </a:r>
            <a:endParaRPr lang="en-US" sz="16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Credentials travel in the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Authorization</a:t>
            </a:r>
            <a:pPr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request header on every call</a:t>
            </a:r>
            <a:endParaRPr lang="en-US" sz="16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scheme: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Bearer token</a:t>
            </a:r>
            <a:pPr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(JWT or opaque string)</a:t>
            </a:r>
            <a:endParaRPr lang="en-US" sz="16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checks the token in the route (or a decorator)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4937760"/>
            <a:ext cx="8046720" cy="1435608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4937760"/>
            <a:ext cx="80467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505663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505663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505663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493776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5431536"/>
            <a:ext cx="7589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token = flask.request.headers.</a:t>
            </a:r>
            <a:pPr algn="l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"Authorization"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</a:t>
            </a:r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token: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</a:t>
            </a:r>
            <a:pPr algn="l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{"error": "unauthorised"}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Services  ·  09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SERVICES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Flask's built-in 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app.run()</a:t>
            </a:r>
            <a:pPr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for development only: not safe, single-threaded</a:t>
            </a:r>
            <a:endParaRPr lang="en-US" sz="16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Production: run Flask behind a WSGI server, e.g. </a:t>
            </a:r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Gunicorn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pPr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uWSGI</a:t>
            </a:r>
            <a:endParaRPr lang="en-US" sz="16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stack: 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Nginx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(proxy) -&gt; 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Gunicorn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(WSGI) -&gt; </a:t>
            </a:r>
            <a:pPr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Flask app</a:t>
            </a:r>
            <a:endParaRPr lang="en-US" sz="16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options: Heroku, AWS Elastic Beanstalk, Azure App Service, Render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31520" y="4937760"/>
            <a:ext cx="6400800" cy="1188720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4937760"/>
            <a:ext cx="64008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505663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505663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16736" y="505663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49377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terminal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87552" y="5431536"/>
            <a:ext cx="5943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pip3 install gunicorn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gunicorn service:app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Services  ·  10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Services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2017624"/>
            <a:ext cx="399593" cy="3995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91640" y="1783080"/>
            <a:ext cx="9857232" cy="713232"/>
          </a:xfrm>
          <a:prstGeom prst="rect">
            <a:avLst/>
          </a:prstGeom>
          <a:solidFill>
            <a:srgbClr val="0F162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65960" y="1783080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Setup:  </a:t>
            </a:r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</a:t>
            </a:r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movie_service.py</a:t>
            </a:r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the exercises repo (link below). Open it in your editor.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91640" y="2816352"/>
            <a:ext cx="9857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does a web service differ from a web app?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is an HTTP request mapped to a function/method?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endpoints to the movie service: GET by ID, POST, DELETE, and a filtered GET using query params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service handles requests in separate threads. What problems might that cause as written?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error handling, if any, should be added to the service?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691640" y="5623560"/>
            <a:ext cx="9857232" cy="685800"/>
          </a:xfrm>
          <a:prstGeom prst="rect">
            <a:avLst/>
          </a:prstGeom>
          <a:solidFill>
            <a:srgbClr val="0F1626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74520" y="562356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stayahead-training/python-2-exercises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content/web-services.md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11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CLIENTS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Installing the requests module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could build a client with stdlib, e.g.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urllib.request</a:t>
            </a:r>
            <a:endParaRPr lang="en-US" sz="1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Third-party library preferred: </a:t>
            </a:r>
            <a:pPr indent="0" marL="0">
              <a:lnSpc>
                <a:spcPct val="105000"/>
              </a:lnSpc>
              <a:buNone/>
            </a:pPr>
            <a:r>
              <a:rPr lang="en-US" sz="175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requests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('HTTP for humans')</a:t>
            </a:r>
            <a:endParaRPr lang="en-US" sz="1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readable, with sensible defaults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31520" y="3794760"/>
            <a:ext cx="5120640" cy="9692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3794760"/>
            <a:ext cx="51206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91363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391363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16736" y="391363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37947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terminal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87552" y="428853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pip3 install requests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Clients  ·  12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CLIENTS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Making requests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8595360" cy="26151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85953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3911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03911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203911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92024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414016"/>
            <a:ext cx="8138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requests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 = requests.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(f</a:t>
            </a:r>
            <a:pPr algn="l" indent="0" marL="0">
              <a:buNone/>
            </a:pPr>
            <a:r>
              <a:rPr lang="en-US" sz="14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"{URI}/widgets"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status_code = response.status_code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headers = response.headers</a:t>
            </a:r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# a dict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body = response.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# assuming JSON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Clients  ·  13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CLIENTS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Headers and query parameters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03520" cy="2423160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53035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3911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03911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203911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9202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headers: client.py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414016"/>
            <a:ext cx="484632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 = requests.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</a:t>
            </a:r>
            <a:pPr algn="l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"{URI}/widgets"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headers={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"Accept"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"application/json"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"Authorization"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creds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920240"/>
            <a:ext cx="5303520" cy="2423160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920240"/>
            <a:ext cx="53035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03911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47688" y="203911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48856" y="203911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9202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params: client.py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19672" y="2414016"/>
            <a:ext cx="484632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 = requests.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</a:t>
            </a:r>
            <a:pPr algn="l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"{URI}/movies"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params={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"genre"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"Comedy"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9377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Accept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format you want;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Authorization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who you are.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493776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49377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/movies?genre=Comedy  (built by requests)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Clients  ·  14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CLIENTS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request body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8778240" cy="23408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87782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3911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03911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203911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92024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414016"/>
            <a:ext cx="8321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movie = {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"id"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"title"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"Clueless"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 = requests.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</a:t>
            </a:r>
            <a:pPr algn="l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"{URI}/movies"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json=movie</a:t>
            </a:r>
            <a:pPr algn="l"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# serialises + sets Content-Type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json=movie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serialises the dict to JSON and sets Content-Type: application/json. This is the data the server reads with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get_json()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Clients  ·  15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CLIENTS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Timeouts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8229600" cy="179222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82296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3911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03911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203911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92024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414016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 = requests.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</a:t>
            </a:r>
            <a:pPr algn="l" indent="0" marL="0">
              <a:buNone/>
            </a:pPr>
            <a:r>
              <a:rPr lang="en-US" sz="14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"{URI}/movies"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timeout=5</a:t>
            </a:r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# seconds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a timeout, requests can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hang forever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if the server is slow or unreachable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timeout=5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waits up to 5 s for a connection AND response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timeout=(connect, read)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sets them separately, e.g. 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5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timeout=(2, 10)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Timeout raises 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5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requests.exceptions.Timeout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Clients  ·  16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CLIENTS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 and exceptions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9601200" cy="343814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96012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476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476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82880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322576"/>
            <a:ext cx="9144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try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response = requests.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(url, timeout=5)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response.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raise_for_status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# 4xx/5xx -&gt; exception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data = response.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except requests.exceptions.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Timeout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"Timed out"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except requests.exceptions.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ConnectionError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8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"Cannot connect"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9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except requests.exceptions.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HTTPError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as e: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"HTTP error"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e)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Clients  ·  17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Clients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2017624"/>
            <a:ext cx="399593" cy="3995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91640" y="1783080"/>
            <a:ext cx="9857232" cy="713232"/>
          </a:xfrm>
          <a:prstGeom prst="rect">
            <a:avLst/>
          </a:prstGeom>
          <a:solidFill>
            <a:srgbClr val="0F162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65960" y="1783080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Setup:  </a:t>
            </a:r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</a:t>
            </a:r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movie_client.py</a:t>
            </a:r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the repo. Run your movie service in one terminal, the client in another.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91640" y="2816352"/>
            <a:ext cx="9857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the movie client to match the endpoints you added to the service in task 3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·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does basic authentication work?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691640" y="5486400"/>
            <a:ext cx="9857232" cy="685800"/>
          </a:xfrm>
          <a:prstGeom prst="rect">
            <a:avLst/>
          </a:prstGeom>
          <a:solidFill>
            <a:srgbClr val="0F1626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74520" y="548640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stayahead-training/python-2-exercises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content/web-services.md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18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234440"/>
            <a:ext cx="1005840" cy="10058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45" y="1506017"/>
            <a:ext cx="462686" cy="4626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 &amp; questions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85800" y="3566160"/>
            <a:ext cx="8686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web service is called remotely;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dominates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URI is the noun, HTTP method is the verb;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is the data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with Flask, consume with requests,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both halves of the loop</a:t>
            </a:r>
            <a:endParaRPr lang="en-US" sz="1500" dirty="0"/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Services</dc:title>
  <dc:subject>PptxGenJS Presentation</dc:subject>
  <dc:creator>Edward Reynolds</dc:creator>
  <cp:lastModifiedBy>Edward Reynolds</cp:lastModifiedBy>
  <cp:revision>1</cp:revision>
  <dcterms:created xsi:type="dcterms:W3CDTF">2026-06-12T08:17:41Z</dcterms:created>
  <dcterms:modified xsi:type="dcterms:W3CDTF">2026-06-12T08:17:41Z</dcterms:modified>
</cp:coreProperties>
</file>