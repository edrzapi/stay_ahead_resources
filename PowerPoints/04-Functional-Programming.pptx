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143000"/>
            <a:ext cx="1051560" cy="10515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1426921"/>
            <a:ext cx="483718" cy="483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PROGRAMMING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11338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Programming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658368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functions, </a:t>
            </a:r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as objects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higher-order functions and </a:t>
            </a:r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lambdas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Edward Reynolds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·    StayAhead Training, 2026</a:t>
            </a:r>
            <a:endParaRPr lang="en-US" sz="140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4 · FUNCTIONAL PROGRAMMING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58968" cy="91440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01952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09" y="2084649"/>
            <a:ext cx="311262" cy="311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874520"/>
            <a:ext cx="4178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37360" y="225856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Paradigms, characteristics, the FP mindset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89904" y="1783080"/>
            <a:ext cx="5458968" cy="91440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9904" y="1783080"/>
            <a:ext cx="64008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45936" y="1901952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633" y="2084649"/>
            <a:ext cx="311262" cy="311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87184" y="1874520"/>
            <a:ext cx="4178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Functions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87184" y="225856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Same input, same output, no side-effects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2862072"/>
            <a:ext cx="5458968" cy="91440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862072"/>
            <a:ext cx="64008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96112" y="2980944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09" y="3163641"/>
            <a:ext cx="311262" cy="3112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2953512"/>
            <a:ext cx="4178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as Objects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737360" y="333756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First-class values, aliasing, monkey patching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089904" y="2862072"/>
            <a:ext cx="5458968" cy="91440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89904" y="2862072"/>
            <a:ext cx="64008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45936" y="2980944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633" y="3163641"/>
            <a:ext cx="311262" cy="3112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87184" y="2953512"/>
            <a:ext cx="4178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Higher-Order Functions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187184" y="333756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Interchangeable logic, HOF patterns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40080" y="3941064"/>
            <a:ext cx="5458968" cy="91440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3941064"/>
            <a:ext cx="64008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96112" y="4059936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09" y="4242633"/>
            <a:ext cx="311262" cy="31126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37360" y="4032504"/>
            <a:ext cx="4178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Lambda Expressions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737360" y="4416552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Anonymous inline functions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089904" y="3941064"/>
            <a:ext cx="5458968" cy="91440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089904" y="3941064"/>
            <a:ext cx="64008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45936" y="4059936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633" y="4242633"/>
            <a:ext cx="311262" cy="3112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87184" y="4032504"/>
            <a:ext cx="4178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map, filter and reduce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7187184" y="4416552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Built-in HOFs for transform, keep, fold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40080" y="5020056"/>
            <a:ext cx="5458968" cy="91440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0080" y="5020056"/>
            <a:ext cx="64008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96112" y="5138928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809" y="5321625"/>
            <a:ext cx="311262" cy="31126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737360" y="5111496"/>
            <a:ext cx="4178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Mutability</a:t>
            </a:r>
            <a:endParaRPr lang="en-US" sz="1500" dirty="0"/>
          </a:p>
        </p:txBody>
      </p:sp>
      <p:sp>
        <p:nvSpPr>
          <p:cNvPr id="45" name="Text 36"/>
          <p:cNvSpPr/>
          <p:nvPr/>
        </p:nvSpPr>
        <p:spPr>
          <a:xfrm>
            <a:off x="1737360" y="5495544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Mutable vs immutable, the id function</a:t>
            </a:r>
            <a:endParaRPr lang="en-US" sz="950" dirty="0"/>
          </a:p>
        </p:txBody>
      </p:sp>
      <p:sp>
        <p:nvSpPr>
          <p:cNvPr id="46" name="Text 3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  ·  01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Procedural, object-oriented, functional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46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260604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423160"/>
            <a:ext cx="777240" cy="7772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43" y="263301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Procedural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mainly from procedures, a named group of instructions that does not return a value.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9856" y="2103120"/>
            <a:ext cx="2606040" cy="3246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9856" y="2103120"/>
            <a:ext cx="2606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12464" y="2423160"/>
            <a:ext cx="777240" cy="7772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319" y="2633015"/>
            <a:ext cx="357530" cy="3575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94176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Object-oriented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94176" y="38404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mainly from objects, related state and behaviour (attributes and methods).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99632" y="2103120"/>
            <a:ext cx="2606040" cy="3246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99632" y="2103120"/>
            <a:ext cx="260604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2423160"/>
            <a:ext cx="777240" cy="7772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095" y="2633015"/>
            <a:ext cx="357530" cy="3575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73952" y="38404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mainly from functions, instructions that produce output from the given input.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79408" y="2103120"/>
            <a:ext cx="2606040" cy="32461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979408" y="2103120"/>
            <a:ext cx="260604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272016" y="2423160"/>
            <a:ext cx="777240" cy="7772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1871" y="2633015"/>
            <a:ext cx="357530" cy="3575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53728" y="3337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53728" y="38404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program that exploits one or more of the other approaches together.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 ·  02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functional programming favours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programming favours: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423160"/>
            <a:ext cx="9875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over procedures and objects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Transformations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over modifications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data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over mutable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869680" y="237744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224" y="2611984"/>
            <a:ext cx="399593" cy="3995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921240" y="237744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784" y="2611984"/>
            <a:ext cx="399593" cy="3995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972800" y="237744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7344" y="2611984"/>
            <a:ext cx="399593" cy="39959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31520" y="4892040"/>
            <a:ext cx="10817352" cy="868680"/>
          </a:xfrm>
          <a:prstGeom prst="rect">
            <a:avLst/>
          </a:prstGeom>
          <a:solidFill>
            <a:srgbClr val="0F1626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60120" y="48920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Aside:  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original slide showed a gumball machine, a Transformer and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Which image does </a:t>
            </a:r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fit functional programming?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 ·  03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PURE FUNCTIONS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input, same output, no side-effects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7" y="21918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828800"/>
            <a:ext cx="9235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Produces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given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side-effects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 or write globals or external systems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test, no fixture, no dependencies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 program is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entirely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pure. Purity is a goal, not a law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Pure functions  ·  04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PURE FUNCTIONS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vs impure, in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40680" cy="1435608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54406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305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305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1305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0116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pure.py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5054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circumference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(radius):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import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* math.pi * radius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011680"/>
            <a:ext cx="5285232" cy="1682496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011680"/>
            <a:ext cx="5285232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1305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47688" y="21305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48856" y="21305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01168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impure.py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19672" y="2505456"/>
            <a:ext cx="48280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date_from_today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(days):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import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datetime </a:t>
            </a:r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dt.date.today()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+ dt.timedelta(days=days)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is this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 impure?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10927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impure one reads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date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 external system. Same input, different output on different days.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Pure functions  ·  05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functions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91640" y="1783080"/>
            <a:ext cx="9857232" cy="713232"/>
          </a:xfrm>
          <a:prstGeom prst="rect">
            <a:avLst/>
          </a:prstGeom>
          <a:solidFill>
            <a:srgbClr val="0F16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178308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Setup:  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</a:t>
            </a:r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functions.py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functions_test.py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Define functions in the first, test them in the second.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283464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two files, one named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functions.py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the other named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functions_test.py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a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that strips all duplicates from a list of numbers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691640" y="5212080"/>
            <a:ext cx="9857232" cy="713232"/>
          </a:xfrm>
          <a:prstGeom prst="rect">
            <a:avLst/>
          </a:prstGeom>
          <a:solidFill>
            <a:srgbClr val="0F162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20240" y="5212080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2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content/functional-programming.md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06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 AS OBJECTS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Python, a function is an object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function has a type, just like everything else in Python: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859536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8595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963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963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963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774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functions_are_objects.py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71216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pPr algn="l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"Hello"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type_of_hello = 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(hello)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type_of_hello ===&gt; &lt;class 'function'&gt;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 parentheses. We pass the function itself, not its result.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 as objects  ·  07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 AS OBJECTS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names, one function object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5216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852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aliasing.py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5394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"Hello"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greet = hello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greet()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output: Hello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040880" y="1828800"/>
            <a:ext cx="4526280" cy="329184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9202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Memory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6948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84080" y="3063240"/>
            <a:ext cx="1554480" cy="914400"/>
          </a:xfrm>
          <a:prstGeom prst="ellipse">
            <a:avLst/>
          </a:prstGeom>
          <a:solidFill>
            <a:srgbClr val="06081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3063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print("Hello")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95360" y="2880360"/>
            <a:ext cx="1188720" cy="54864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8595360" y="3703320"/>
            <a:ext cx="1188720" cy="45720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 as objects  ·  08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 AS OBJECTS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name can be repointed to a new function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5216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852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reassign.py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"Hello"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salut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"Salut"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 = salut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1828800"/>
            <a:ext cx="4526280" cy="329184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9202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Memory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6948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salut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966960" y="2331720"/>
            <a:ext cx="1463040" cy="777240"/>
          </a:xfrm>
          <a:prstGeom prst="ellipse">
            <a:avLst/>
          </a:prstGeom>
          <a:solidFill>
            <a:srgbClr val="060810"/>
          </a:solidFill>
          <a:ln w="15875">
            <a:solidFill>
              <a:srgbClr val="3A46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print("Hello")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966960" y="3749040"/>
            <a:ext cx="1463040" cy="777240"/>
          </a:xfrm>
          <a:prstGeom prst="ellipse">
            <a:avLst/>
          </a:prstGeom>
          <a:solidFill>
            <a:srgbClr val="060810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0" y="37490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print("Salut")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595360" y="2788920"/>
            <a:ext cx="1371600" cy="132588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8595360" y="4160520"/>
            <a:ext cx="1371600" cy="9144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40080" y="5349240"/>
            <a:ext cx="10927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now runs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salut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's code. The original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print("Hello")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orphaned.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 as objects  ·  09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MONKEY PATCHING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Changing behaviour at runtime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7" y="223753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874520"/>
            <a:ext cx="9235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Changing the behaviour of a program at runtime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Reassigning a function / method / class / module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previous slide was an example of monkey patching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cases: decorators; mocking dependencies when testing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cases: pretty much anything else!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Monkey patching  ·  10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as objects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an alias for the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named </a:t>
            </a:r>
            <a:pPr indent="0" marL="0">
              <a:lnSpc>
                <a:spcPct val="105000"/>
              </a:lnSpc>
              <a:spcAft>
                <a:spcPts val="2200"/>
              </a:spcAft>
              <a:buNone/>
            </a:pPr>
            <a:r>
              <a:rPr lang="en-US" sz="17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Monkey patch the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random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in the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random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module so that it always returns </a:t>
            </a:r>
            <a:pPr indent="0" marL="0">
              <a:lnSpc>
                <a:spcPct val="105000"/>
              </a:lnSpc>
              <a:spcAft>
                <a:spcPts val="2200"/>
              </a:spcAft>
              <a:buNone/>
            </a:pPr>
            <a:r>
              <a:rPr lang="en-US" sz="17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</a:t>
            </a:r>
            <a:pPr indent="0" marL="0">
              <a:lnSpc>
                <a:spcPct val="105000"/>
              </a:lnSpc>
              <a:spcAft>
                <a:spcPts val="22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one add attributes and methods to a function?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691640" y="5212080"/>
            <a:ext cx="9857232" cy="713232"/>
          </a:xfrm>
          <a:prstGeom prst="rect">
            <a:avLst/>
          </a:prstGeom>
          <a:solidFill>
            <a:srgbClr val="0F162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20240" y="5212080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2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content/functional-programming.md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HIGHER-ORDER FUNCTIONS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problem: duplicated logic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works. But how much would we copy to also remove primes?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768096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76809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remove_negatives.py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7223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remove_all_negatives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index =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while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 &lt;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num = nums[index]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if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 &lt;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nums.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index +=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329184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3291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Only ONE line 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specific to negatives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Higher-order functions  ·  12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HIGHER-ORDER FUNCTIONS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that take or return functions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7" y="21918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828800"/>
            <a:ext cx="9235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higher-order function (HOF)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accepts and/or returns a function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interchangeable logic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like inheritance in OOP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for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proxying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existing functions, see decorators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Closures are higher-order functions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Higher-order functions  ·  13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HIGHER-ORDER FUNCTIONS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remove_all, rewritten as a HOF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the test in as a function.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remove_all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longer cares what we remove: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768096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76809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remove_all.py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7223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remove_all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(things,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index =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while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 &lt;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(things):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thing = things[index]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if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(thing):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things.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(thing)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index +=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274320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is a function: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takes a thing,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returns a bool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Higher-order functions  ·  14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HIGHER-ORDER FUNCTIONS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Interchangeable logic, no duplication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863840" cy="31638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78638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interchangeable.py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7406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is_negative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 &lt;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is_odd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 %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 = [-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-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remove_all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(nums,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is_negative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remove_all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(nums,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is_odd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10927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function, many behaviours.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pass the function by name, no parentheses.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Higher-order functions  ·  15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anonymous functions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7" y="21918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828800"/>
            <a:ext cx="9235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lambda is an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anonymous function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lambda must: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743200" y="3063240"/>
            <a:ext cx="8686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 defined with the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keyword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 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comprise one line of code only (the expression)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include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It is assumed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Lambdas  ·  16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LAMBDAS: BASIC FORM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Anatomy of a lambda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is_negative = </a:t>
            </a:r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ctr" indent="0" marL="0">
              <a:buNone/>
            </a:pPr>
            <a:r>
              <a:rPr lang="en-US" sz="2600" b="1" dirty="0">
                <a:solidFill>
                  <a:srgbClr val="0A0E18"/>
                </a:solidFill>
                <a:highlight>
                  <a:srgbClr val="4ADE80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</a:t>
            </a:r>
            <a:pPr algn="ctr"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ctr" indent="0" marL="0">
              <a:buNone/>
            </a:pPr>
            <a:r>
              <a:rPr lang="en-US" sz="2600" b="1" dirty="0">
                <a:solidFill>
                  <a:srgbClr val="0A0E18"/>
                </a:solidFill>
                <a:highlight>
                  <a:srgbClr val="FBBF2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 &lt; 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0" y="4160520"/>
            <a:ext cx="2926080" cy="777240"/>
          </a:xfrm>
          <a:prstGeom prst="roundRect">
            <a:avLst>
              <a:gd name="adj" fmla="val 5882"/>
            </a:avLst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4160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Typically the lambda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won't be assigned a name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74920" y="178308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0F1626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783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parameter list 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round brackets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0" y="4160520"/>
            <a:ext cx="2377440" cy="640080"/>
          </a:xfrm>
          <a:prstGeom prst="roundRect">
            <a:avLst>
              <a:gd name="adj" fmla="val 7143"/>
            </a:avLst>
          </a:prstGeom>
          <a:solidFill>
            <a:srgbClr val="0F1626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expression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Lambdas  ·  17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LAMBDAS: SIMPLE EXAMPLES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number cuber and a slugifier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058400" cy="26151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00584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lambda_examples.py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9601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cube =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num: num **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cube(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result ===&gt; 8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snake_case =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s: s.strip().lower().replace(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 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"_"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snake_case(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 Hello world 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result ===&gt; "hello_world"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10927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chained method calls fit, as long as it's a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expression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Lambdas  ·  18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Interchangeable logic, inline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more tiny named functions. Pass the test as a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8961120" cy="23408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89611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remove_with_lambda.py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8503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 = [-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-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remove_all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(nums,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num: num &lt;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remove_all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(nums, </a:t>
            </a:r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num: num % </a:t>
            </a:r>
            <a:pPr algn="l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nums ===&gt; [0, 2, 4]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10927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behaviour lives right at the call site,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concise and readable.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Lambdas  ·  19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Higher-order functions and lambdas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a higher-order function that accepts a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filename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Apply the function to each line of the file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functions_test.py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call the function from task 6 passing a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write each line to the screen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·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add_to_basket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(below) is tightly coupled to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take_from_inventory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What might one do about this?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691640" y="4251960"/>
            <a:ext cx="8686800" cy="19293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691640" y="4251960"/>
            <a:ext cx="86868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74520" y="43708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75688" y="43708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76856" y="43708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425196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add_to_basket (task 8)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947672" y="4745736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add_to_basket</a:t>
            </a:r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(basket, product, qty):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take_from_inventory(product, qty)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 </a:t>
            </a:r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</a:t>
            </a:r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basket: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basket[product] += qty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else:</a:t>
            </a:r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basket[product] = qty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691640" y="5897880"/>
            <a:ext cx="9857232" cy="566928"/>
          </a:xfrm>
          <a:prstGeom prst="rect">
            <a:avLst/>
          </a:prstGeom>
          <a:solidFill>
            <a:srgbClr val="0F162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20240" y="589788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2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content/functional-programming.md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20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MAP, FILTER AND REDUCE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map function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map(func, iterable)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applies func to every item and returns a lazy map object.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058400" cy="31638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100584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map_demo.py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9601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words = [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"hello"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"world"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"python"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map with a built-in method reference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upper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(str.upper, words))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upper ===&gt; ['HELLO', 'WORLD', 'PYTHON']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map with a lambda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lengths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w: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(w), words))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lengths ===&gt; [5, 5, 6]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 in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list()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see the results; map is lazy (iterator)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Comprehension equivalent: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[w.upper() for w in words]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map, filter and reduce  ·  21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MAP, FILTER AND REDUCE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filter function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filter(predicate, iterable)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keeps items where the predicate is truthy. Also lazy.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9692640" cy="34381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96926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filter_demo.py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9235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 = [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keep odd numbers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odds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n: n %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nums))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odds ===&gt; [1, 3, 5]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filter(None, ...) drops falsy values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items = [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"hi"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truthy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items))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truthy ===&gt; ["hi", 42]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map, filter and reduce  ·  22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MAP, FILTER AND REDUCE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reduce function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functools import reduce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-- folds a sequence down to ONE value.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241280" cy="37124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102412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reduce_demo.py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9784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functools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reduce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 = [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sum: 1+2=3, 3+3=6, 6+4=10, 10+5=15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reduce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a, b: a + b, nums)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total ===&gt; 15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with an initial value (prepended before the fold)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total2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reduce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lambda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a, b: a + b, nums,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total2 ===&gt; 115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sums or products,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sum()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math.prod()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a plain loop is usually clearer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map, filter and reduce  ·  23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MUTABILITY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Mutable and immutable types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7" y="219181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828800"/>
            <a:ext cx="9235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Mutable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objects can be changed after creation: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dict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objects cannot: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tuple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frozenset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style prefers immutable data: no accidental mutation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mutable references are a common source of bugs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4434840"/>
            <a:ext cx="10424160" cy="2423160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4434840"/>
            <a:ext cx="10424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45537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15568" y="45537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16736" y="45537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54480" y="443484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mutability.py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87552" y="4928616"/>
            <a:ext cx="99669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immutable: reassignment makes a NEW object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= </a:t>
            </a:r>
            <a:pPr algn="l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= </a:t>
            </a:r>
            <a:pPr algn="l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pPr algn="l"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x now points at a fresh int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mutable: append changes the SAME object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 = [</a:t>
            </a:r>
            <a:pPr algn="l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nums.</a:t>
            </a:r>
            <a:pPr algn="l" indent="0" marL="0">
              <a:buNone/>
            </a:pPr>
            <a:r>
              <a:rPr lang="en-US" sz="12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</a:t>
            </a:r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 # mutates in place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Mutability  ·  24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MUTABILITY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 function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id(obj)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returns the object's identity (its address in CPython). 'is' compares identity; '==' compares value.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424160" cy="31638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10424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963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963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963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7744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id_demo.py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71216"/>
            <a:ext cx="9966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=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(x))  # e.g. 4399012144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=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(x))  # different address, new int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 = [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alias = nums  # both names, one object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print(alias </a:t>
            </a:r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</a:t>
            </a:r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nums)  # True, same 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nums.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 # mutates in place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print(alias)  # [1, 2, 3], alias sees it too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Small-int / string interning: Python may reuse the same object for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values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Mutability  ·  25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Mutability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 ·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it mean to say an object is immutable?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</a:t>
            </a:r>
            <a:pPr indent="0" marL="0">
              <a:lnSpc>
                <a:spcPct val="1050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Objects of which of the core Python data types are immutable?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691640" y="5212080"/>
            <a:ext cx="9857232" cy="713232"/>
          </a:xfrm>
          <a:prstGeom prst="rect">
            <a:avLst/>
          </a:prstGeom>
          <a:solidFill>
            <a:srgbClr val="0F162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20240" y="5212080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2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content/functional-programming.md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26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2344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1506017"/>
            <a:ext cx="462686" cy="462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 &amp; questions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85800" y="3566160"/>
            <a:ext cx="8686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functions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same input, same output, no side-effects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are objects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pass them, alias them, repoint them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Higher-order functions and lambdas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interchangeable logic, inline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map, filter and reduce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functional tools in the standard library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Mutability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mutable vs immutable types, id()</a:t>
            </a:r>
            <a:endParaRPr lang="en-US" sz="15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subject>PptxGenJS Presentation</dc:subject>
  <dc:creator>Edward Reynolds</dc:creator>
  <cp:lastModifiedBy>Edward Reynolds</cp:lastModifiedBy>
  <cp:revision>1</cp:revision>
  <dcterms:created xsi:type="dcterms:W3CDTF">2026-06-11T12:30:29Z</dcterms:created>
  <dcterms:modified xsi:type="dcterms:W3CDTF">2026-06-11T12:30:29Z</dcterms:modified>
</cp:coreProperties>
</file>