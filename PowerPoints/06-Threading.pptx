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143000"/>
            <a:ext cx="1051560" cy="105156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9" y="1426921"/>
            <a:ext cx="483718" cy="4837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468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PROGRAMMING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58368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Spawning threads, </a:t>
            </a:r>
            <a:pPr indent="0" marL="0">
              <a:buNone/>
            </a:pPr>
            <a:r>
              <a:rPr lang="en-US" sz="19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 data safely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the truth about the </a:t>
            </a:r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GIL</a:t>
            </a:r>
            <a:pPr indent="0" marL="0">
              <a:buNone/>
            </a:pPr>
            <a:r>
              <a:rPr lang="en-US" sz="19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Edward Reynolds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·    StayAhead Training, 2026</a:t>
            </a:r>
            <a:endParaRPr lang="en-US" sz="140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CHAPTER 6 · THREADING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458968" cy="1005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55648"/>
            <a:ext cx="64008" cy="1005840"/>
          </a:xfrm>
          <a:prstGeom prst="rect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29384"/>
            <a:ext cx="658368" cy="65836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71" y="2107143"/>
            <a:ext cx="302849" cy="3028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1874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threads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19072" y="2276856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 · subclass · __call__ · daemon · passing 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9904" y="1755648"/>
            <a:ext cx="5458968" cy="1005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89904" y="1755648"/>
            <a:ext cx="64008" cy="1005840"/>
          </a:xfrm>
          <a:prstGeom prst="rect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45936" y="1929384"/>
            <a:ext cx="658368" cy="65836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107143"/>
            <a:ext cx="302849" cy="3028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68896" y="1874520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68896" y="2276856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of execution · many threads · sleep · join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2916936"/>
            <a:ext cx="5458968" cy="1005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0080" y="2916936"/>
            <a:ext cx="64008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96112" y="3090672"/>
            <a:ext cx="658368" cy="65836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71" y="3268431"/>
            <a:ext cx="302849" cy="3028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19072" y="303580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Coordinating and results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719072" y="3438144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Obtaining a result · executors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89904" y="2916936"/>
            <a:ext cx="5458968" cy="1005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89904" y="2916936"/>
            <a:ext cx="64008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45936" y="3090672"/>
            <a:ext cx="658368" cy="65836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95" y="3268431"/>
            <a:ext cx="302849" cy="30284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68896" y="303580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and safety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68896" y="3438144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and heap · race conditions · locks · deadlock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080" y="4078224"/>
            <a:ext cx="5458968" cy="100584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078224"/>
            <a:ext cx="64008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96112" y="4251960"/>
            <a:ext cx="658368" cy="658368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871" y="4429719"/>
            <a:ext cx="302849" cy="30284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719072" y="4197096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1719072" y="4599432"/>
            <a:ext cx="4224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I/O-bound work · the GIL · multiprocessing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Contents  ·  01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thread?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12680" y="1828800"/>
            <a:ext cx="1371600" cy="137160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A78BF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012" y="2199132"/>
            <a:ext cx="630936" cy="6309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28800"/>
            <a:ext cx="8778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smallest unit of execution scheduled by the OS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 of it like a worker executing your code in the processor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program in execution, made of one or more threads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theory a multi-threaded program can do two or more things at once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Introduction  ·  02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91640" y="1783080"/>
            <a:ext cx="9857232" cy="713232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783080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3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content/threading.md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91640" y="283464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does a thread differ from a process?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SPAWNING A THREAD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an existing function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Instantiate the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class, then call its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method: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822960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spawn_target.py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7772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target an existing function...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 = th.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Spawning a Thread  ·  04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Spawning a Thread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hoo_ha_function.py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Code a function that writes its argument to stdout 10 times.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Spawn two threads: the first with argument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"hoo"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the second with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"ha"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Run the script and note any interleaving.</a:t>
            </a:r>
            <a:endParaRPr lang="en-US" sz="16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If no interleaving is visible, increase the repeat count. How do you account for the variability?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SUBCLASSING THREAD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subclass Thread and override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822960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spawn_subclass.py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7772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MyThreadable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</a:t>
            </a:r>
            <a:pPr algn="l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 =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MyThreadable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98280" y="233172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3317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DON'T call run()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directly, use start()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Subclassing Thread  ·  06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IMPLEMENTING __CALL__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any callable object run on a thread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 any callable as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class with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__call__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callable: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59536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5953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callable_thread.py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138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__call__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print(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"Working..."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worker =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= th.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worker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Implementing __call__  ·  07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Subclassing Thread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hoo_ha_class.py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Repeat task 2 using a class that inherits from Thread.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08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 THREADS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that die with the program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 thread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stops automatically when the program exits: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969264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969264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9235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 = th.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(target=some_func,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daemon=True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non-daemon thread keeps the program alive until it finishes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daemon thread is killed when the main program exits, good for background tasks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Daemon Threads  ·  09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Daemon Threads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68680" cy="8686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24" y="2017624"/>
            <a:ext cx="399593" cy="3995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98572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 daemon thread?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  ·  10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PASSING DATA TO THREADS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styles: args= or __init__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532120" cy="19293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532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562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8562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8562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 style  (args=)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31136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print(sum(nums)/len(nums))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th.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(target=mean,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args=[nums]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).start()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394960" cy="2423160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737360"/>
            <a:ext cx="5394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85623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0568" y="185623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185623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1737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subclass style  (__init__)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02552" y="2231136"/>
            <a:ext cx="4937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MeanThread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(th.Thread):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def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nums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super().__init__()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self.nums = nums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def </a:t>
            </a:r>
            <a:pPr algn="l"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print(sum(self.nums)/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len(self.nums))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84632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 style: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'args' is a list unpacked into the function's parameters.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Subclass style: 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arrives in '__init__', stored on self, used in run().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Passing Data to Threads  ·  11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OF EXECUTION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do not run in a guaranteed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OS scheduler decides WHEN each thread runs. You cannot predict the order: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96112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961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503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say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(msg):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print(msg)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(target=say, args=[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"first"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]).start()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(target=say, args=[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"second"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]).start()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may print: first, second  OR  second, first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of Execution  ·  12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SPAWNING MANY THREADS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start them in a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9144000" cy="39867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1440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many_threads.py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8686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work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"task"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n)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threads = [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th.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(target=work, args=[i])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threads: t.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threads: t.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Spawning Many Threads  ·  13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PUTTING A THREAD TO SLEEP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time.sleep() pauses the running thread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950976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5097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476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476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476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2880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pausing.py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322576"/>
            <a:ext cx="9052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hello_after_delay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time.sleep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4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sleep for 1 sec.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pPr algn="l" indent="0" marL="0">
              <a:buNone/>
            </a:pPr>
            <a:r>
              <a:rPr lang="en-US" sz="14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"Hello"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 = th.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(target=hello_after_delay)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Pausing a thread  ·  14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WAITING FOR A THREAD TO FINISH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its join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Force one thread to wait for another to finish with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896112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896112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8503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</a:t>
            </a:r>
            <a:pPr algn="l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...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 = th.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(target=some_func)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force the main thread to wait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thread1.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pPr algn="l"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Waiting for a Thread to Finish  ·  15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OBTAINING A RESULT FROM A THREAD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it on an attribute, join, then read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315200" cy="398678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result_attr.py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6858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MeanThread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(th.Thread):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nums):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super().__init__()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self.nums = nums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def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self.mean = sum(self.nums)/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       len(self.nums)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 = 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MeanThread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([5,13,7,9])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t.</a:t>
            </a:r>
            <a:pPr algn="l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</a:t>
            </a:r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print(t.mean)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192024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have no return value.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Best: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on self, read after join().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Alternative: </a:t>
            </a:r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13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to a 'global' variable (set 'global name' inside the function), then join() before reading.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5074920"/>
            <a:ext cx="3749040" cy="68580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always join() before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 read the result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Obtaining a Result from a Thread  ·  16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 AN EXECUTOR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pool that manages threads for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241280" cy="31638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102412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90195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25296" y="190195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78308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executor.py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9784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concurrent.futures </a:t>
            </a:r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cf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mean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sum(nums) / len(nums)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executor = cf.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ThreadPoolExecutor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3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future1 = 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executor.submit(mean, some_nums)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future1.result()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executor.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shutdown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0" y="516636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5166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result() blocks until the task is complete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 an Executor  ·  17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AND HEAP MEMORY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heap, one danger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one per thread. Holds local variables, private to that thread.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ONE, shared by all threads. Holds objects.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Consequence: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mutable objects on the heap are where race conditions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23560" y="1783080"/>
            <a:ext cx="5943600" cy="4160520"/>
          </a:xfrm>
          <a:prstGeom prst="rect">
            <a:avLst/>
          </a:prstGeom>
          <a:solidFill>
            <a:srgbClr val="0F16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4728" y="2011680"/>
            <a:ext cx="2560320" cy="1828800"/>
          </a:xfrm>
          <a:prstGeom prst="rect">
            <a:avLst/>
          </a:prstGeom>
          <a:solidFill>
            <a:srgbClr val="1335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4728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1 Stack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34456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function1()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61888" y="2715768"/>
            <a:ext cx="2286000" cy="384048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61888" y="2715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local_var1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61888" y="3172968"/>
            <a:ext cx="2286000" cy="384048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3172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local_var2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14232" y="2011680"/>
            <a:ext cx="2560320" cy="1828800"/>
          </a:xfrm>
          <a:prstGeom prst="rect">
            <a:avLst/>
          </a:prstGeom>
          <a:solidFill>
            <a:srgbClr val="1335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14232" y="20756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2 Stack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23960" y="2404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function1()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51392" y="2715768"/>
            <a:ext cx="2286000" cy="384048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1392" y="27157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local_var1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51392" y="3172968"/>
            <a:ext cx="2286000" cy="384048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1392" y="3172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local_var2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24728" y="4114800"/>
            <a:ext cx="5486400" cy="1600200"/>
          </a:xfrm>
          <a:prstGeom prst="rect">
            <a:avLst/>
          </a:prstGeom>
          <a:solidFill>
            <a:srgbClr val="3A2A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4178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Heap  (shared by all threads)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4663440"/>
            <a:ext cx="1234440" cy="777240"/>
          </a:xfrm>
          <a:prstGeom prst="ellipse">
            <a:avLst/>
          </a:prstGeom>
          <a:solidFill>
            <a:srgbClr val="06081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663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55280" y="4663440"/>
            <a:ext cx="1234440" cy="777240"/>
          </a:xfrm>
          <a:prstGeom prst="ellipse">
            <a:avLst/>
          </a:prstGeom>
          <a:solidFill>
            <a:srgbClr val="06081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663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692640" y="4663440"/>
            <a:ext cx="1234440" cy="777240"/>
          </a:xfrm>
          <a:prstGeom prst="ellipse">
            <a:avLst/>
          </a:prstGeom>
          <a:solidFill>
            <a:srgbClr val="06081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4663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13448" y="3557016"/>
            <a:ext cx="9144" cy="10515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7104888" y="3557016"/>
            <a:ext cx="2761488" cy="105156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and Heap Memory  ·  18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RACE CONDITIONS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shared data goes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960120" cy="9601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52" y="2133752"/>
            <a:ext cx="441655" cy="4416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9326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two or more threads race to execute a critical section of code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differs depending on the order in which the threads run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types: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read-modify-write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check-then-act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Occur </a:t>
            </a:r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</a:t>
            </a:r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objects are shared between threads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Race Conditions  ·  19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RACE CONDITIONS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 read-modify-write is not atomic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+= 1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compiles to four steps.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thread can be paused between any two: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29200" cy="179222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502920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5059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5059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5059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3317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+= 1  as bytecode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825496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LOAD_NAME   (x)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LOAD_INT    (1)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BINARY_OP   (+=)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STORE_NAME  (x)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32520" y="1645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965960"/>
            <a:ext cx="2743200" cy="4206240"/>
          </a:xfrm>
          <a:prstGeom prst="rect">
            <a:avLst/>
          </a:prstGeom>
          <a:solidFill>
            <a:srgbClr val="13351F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1965960"/>
            <a:ext cx="2743200" cy="4206240"/>
          </a:xfrm>
          <a:prstGeom prst="rect">
            <a:avLst/>
          </a:prstGeom>
          <a:solidFill>
            <a:srgbClr val="3A2A1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0" y="1965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06840" y="1965960"/>
            <a:ext cx="9144" cy="43434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313432"/>
            <a:ext cx="2468880" cy="493776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31343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 x = 57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64040" y="2971800"/>
            <a:ext cx="2468880" cy="493776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97180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 x = 57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3630168"/>
            <a:ext cx="2468880" cy="493776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630168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BINARY_OP = 58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64040" y="4288536"/>
            <a:ext cx="2468880" cy="493776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42885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BINARY_OP = 58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946904"/>
            <a:ext cx="2468880" cy="493776"/>
          </a:xfrm>
          <a:prstGeom prst="rect">
            <a:avLst/>
          </a:prstGeom>
          <a:solidFill>
            <a:srgbClr val="060810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946904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x = 58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64040" y="5605272"/>
            <a:ext cx="2468880" cy="493776"/>
          </a:xfrm>
          <a:prstGeom prst="rect">
            <a:avLst/>
          </a:prstGeom>
          <a:solidFill>
            <a:srgbClr val="060810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560527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x = 58 (lost!)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Race Conditions  ·  20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SYNCHRONISATION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Lock protects the critical section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only one thread runs the critical section at a time: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7680960" cy="288950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768096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locking.py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7223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 = th.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4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increment_x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(times):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global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for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 </a:t>
            </a:r>
            <a:pPr algn="l" indent="0" marL="0">
              <a:buNone/>
            </a:pPr>
            <a:r>
              <a:rPr lang="en-US" sz="14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range(times):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lock.acquire()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x += </a:t>
            </a:r>
            <a:pPr algn="l" indent="0" marL="0">
              <a:buNone/>
            </a:pPr>
            <a:r>
              <a:rPr lang="en-US" sz="145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lock.release()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503920" y="324612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871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3246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Cleaner: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 lock: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x +=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 Synchronisation  ·  21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DEADLOCK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every thread is waiting forever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threads each hold a lock the other needs, so both wait forever: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241280" cy="3712464"/>
          </a:xfrm>
          <a:prstGeom prst="rect">
            <a:avLst/>
          </a:prstGeom>
          <a:solidFill>
            <a:srgbClr val="0A111E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10241280" cy="32918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04872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404872"/>
            <a:ext cx="91440" cy="9144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5296" y="2404872"/>
            <a:ext cx="91440" cy="9144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28600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deadlock.py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96112" y="2779776"/>
            <a:ext cx="9784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lock_a = th.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lock_b = th.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Lock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task_one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with lock_a: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acquires 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with lock_b: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then tries B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print(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"task one"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task_two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with lock_b: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acquires B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with lock_a:</a:t>
            </a:r>
            <a:pPr algn="l" indent="0" marL="0">
              <a:buNone/>
            </a:pPr>
            <a:r>
              <a:rPr lang="en-US" sz="1350" dirty="0">
                <a:solidFill>
                  <a:srgbClr val="5B6B8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then tries A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print(</a:t>
            </a:r>
            <a:pPr algn="l" indent="0" marL="0">
              <a:buNone/>
            </a:pPr>
            <a:r>
              <a:rPr lang="en-US" sz="1350" dirty="0">
                <a:solidFill>
                  <a:srgbClr val="4ADE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"task two"</a:t>
            </a:r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Fix: always acquire locks in the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order</a:t>
            </a:r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every thread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Deadlock  ·  22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USE CASES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honest truth about Python threads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960120" cy="96012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FBBF2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52" y="2133752"/>
            <a:ext cx="441655" cy="4416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9418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GIL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6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more than one thread executing at once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Threads can, however, wait simultaneously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 for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IO-intensive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 (network, disk, waiting)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CPU-intensive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work, consider multiprocessing instead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Python 3.13-3.14 the GIL can be switched off (free-threaded builds)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Threading Use Cases  ·  23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YOUR TURN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Exercises: Threading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1097280" cy="109728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6" y="244510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3317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to the Threading exercises and work through them.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31520" y="4160520"/>
            <a:ext cx="10817352" cy="868680"/>
          </a:xfrm>
          <a:prstGeom prst="rect">
            <a:avLst/>
          </a:prstGeom>
          <a:solidFill>
            <a:srgbClr val="0F1626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41605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Repo:  </a:t>
            </a:r>
            <a:pPr indent="0" marL="0">
              <a:buNone/>
            </a:pPr>
            <a:r>
              <a:rPr lang="en-US" sz="1450" b="1" dirty="0">
                <a:solidFill>
                  <a:srgbClr val="E5E7E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stayahead-training/python-2-exercises</a:t>
            </a:r>
            <a:pPr indent="0" marL="0">
              <a:buNone/>
            </a:pPr>
            <a:r>
              <a:rPr lang="en-US" sz="14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</a:t>
            </a:r>
            <a:pPr indent="0" marL="0">
              <a:buNone/>
            </a:pPr>
            <a:r>
              <a:rPr lang="en-US" sz="1450" b="1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content/threading.md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0" y="6455664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Exercises  ·  24</a:t>
            </a:r>
            <a:endParaRPr lang="en-US" sz="900" dirty="0"/>
          </a:p>
        </p:txBody>
      </p:sp>
    </p:spTree>
  </p:cSld>
  <p:clrMapOvr>
    <a:masterClrMapping/>
  </p:clrMapOvr>
  <p:transition spd="med" advClick="1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234440"/>
            <a:ext cx="1005840" cy="1005840"/>
          </a:xfrm>
          <a:prstGeom prst="ellipse">
            <a:avLst/>
          </a:prstGeom>
          <a:solidFill>
            <a:srgbClr val="0F1626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506017"/>
            <a:ext cx="462686" cy="4626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 &amp; questions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85800" y="3566160"/>
            <a:ext cx="8686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/ join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spawn a thread, wait for it; pass data via args or __init__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data races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x += 1 isn't atomic; a Lock protects the critical section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GIL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threads help IO-bound work; use multiprocessing for CPU-bound</a:t>
            </a:r>
            <a:endParaRPr lang="en-US" sz="1500" dirty="0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Threading</dc:title>
  <dc:subject>PptxGenJS Presentation</dc:subject>
  <dc:creator>Edward Reynolds</dc:creator>
  <cp:lastModifiedBy>Edward Reynolds</cp:lastModifiedBy>
  <cp:revision>1</cp:revision>
  <dcterms:created xsi:type="dcterms:W3CDTF">2026-06-12T08:17:39Z</dcterms:created>
  <dcterms:modified xsi:type="dcterms:W3CDTF">2026-06-12T08:17:39Z</dcterms:modified>
</cp:coreProperties>
</file>